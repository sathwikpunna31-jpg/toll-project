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image" Target="../media/image-9-1.png"/><Relationship Id="rId5" Type="http://schemas.openxmlformats.org/officeDocument/2006/relationships/image" Target="../media/image-9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3840480" cy="3840480"/>
          </a:xfrm>
          <a:prstGeom prst="ellipse">
            <a:avLst/>
          </a:prstGeom>
          <a:solidFill>
            <a:srgbClr val="EAF1FE"/>
          </a:solidFill>
          <a:ln/>
        </p:spPr>
      </p:sp>
      <p:sp>
        <p:nvSpPr>
          <p:cNvPr id="3" name="Shape 1"/>
          <p:cNvSpPr/>
          <p:nvPr/>
        </p:nvSpPr>
        <p:spPr>
          <a:xfrm>
            <a:off x="9811512" y="4846320"/>
            <a:ext cx="3657600" cy="3657600"/>
          </a:xfrm>
          <a:prstGeom prst="ellipse">
            <a:avLst/>
          </a:prstGeom>
          <a:solidFill>
            <a:srgbClr val="F4F8FE"/>
          </a:solidFill>
          <a:ln/>
        </p:spPr>
      </p:sp>
      <p:sp>
        <p:nvSpPr>
          <p:cNvPr id="4" name="Shape 2"/>
          <p:cNvSpPr/>
          <p:nvPr/>
        </p:nvSpPr>
        <p:spPr>
          <a:xfrm>
            <a:off x="5545836" y="685800"/>
            <a:ext cx="1097280" cy="109728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5" name="Image 0" descr="/home/claude/tollwise/icons/toll_g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8482" y="828446"/>
            <a:ext cx="811987" cy="81198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196596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TollWise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1097280" y="2697480"/>
            <a:ext cx="9994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Automated Toll Collection and Gating System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97280" y="3246120"/>
            <a:ext cx="9994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CSE Project  |  Stage 1 Review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194560" y="3977640"/>
            <a:ext cx="7799832" cy="2148840"/>
          </a:xfrm>
          <a:prstGeom prst="roundRect">
            <a:avLst>
              <a:gd name="adj" fmla="val 5106"/>
            </a:avLst>
          </a:prstGeom>
          <a:solidFill>
            <a:srgbClr val="F4F8FE"/>
          </a:solidFill>
          <a:ln/>
        </p:spPr>
      </p:sp>
      <p:pic>
        <p:nvPicPr>
          <p:cNvPr id="10" name="Image 1" descr="/home/claude/tollwise/icons/te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4233672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971800" y="41788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2971800" y="44805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Name 1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Name 2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Name 3</a:t>
            </a:r>
            <a:endParaRPr lang="en-US" sz="1200" dirty="0"/>
          </a:p>
        </p:txBody>
      </p:sp>
      <p:pic>
        <p:nvPicPr>
          <p:cNvPr id="13" name="Image 2" descr="/home/claude/tollwise/icons/gui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4233672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406640" y="41788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7406640" y="4480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Name Here</a:t>
            </a:r>
            <a:endParaRPr lang="en-US" sz="1200" dirty="0"/>
          </a:p>
        </p:txBody>
      </p:sp>
      <p:pic>
        <p:nvPicPr>
          <p:cNvPr id="16" name="Image 3" descr="/home/claude/tollwise/icons/colle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5029200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406640" y="497433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7406640" y="52760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Name Here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with existing toll collection systems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4F8FE"/>
          </a:solidFill>
          <a:ln/>
        </p:spPr>
      </p:sp>
      <p:sp>
        <p:nvSpPr>
          <p:cNvPr id="5" name="Shape 3"/>
          <p:cNvSpPr/>
          <p:nvPr/>
        </p:nvSpPr>
        <p:spPr>
          <a:xfrm>
            <a:off x="1851660" y="2194560"/>
            <a:ext cx="914400" cy="914400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6" name="Image 0" descr="/home/claude/tollwise/icons/man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0532" y="2313432"/>
            <a:ext cx="676656" cy="6766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3375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Process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384048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Reliant on manual toll collection, prone to human error and delays.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89120" y="182880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4F8FE"/>
          </a:solidFill>
          <a:ln/>
        </p:spPr>
      </p:sp>
      <p:sp>
        <p:nvSpPr>
          <p:cNvPr id="10" name="Shape 7"/>
          <p:cNvSpPr/>
          <p:nvPr/>
        </p:nvSpPr>
        <p:spPr>
          <a:xfrm>
            <a:off x="5692140" y="2194560"/>
            <a:ext cx="914400" cy="914400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11" name="Image 1" descr="/home/claude/tollwise/icons/conges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012" y="2313432"/>
            <a:ext cx="676656" cy="6766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33375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Congestion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709160" y="384048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queues at toll plazas during peak hours slow down traffic flow.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229600" y="182880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4F8FE"/>
          </a:solidFill>
          <a:ln/>
        </p:spPr>
      </p:sp>
      <p:sp>
        <p:nvSpPr>
          <p:cNvPr id="15" name="Shape 11"/>
          <p:cNvSpPr/>
          <p:nvPr/>
        </p:nvSpPr>
        <p:spPr>
          <a:xfrm>
            <a:off x="9532620" y="2194560"/>
            <a:ext cx="914400" cy="914400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16" name="Image 2" descr="/home/claude/tollwise/icons/hardwa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1492" y="2313432"/>
            <a:ext cx="676656" cy="6766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58200" y="33375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Dependency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549640" y="384048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dependence on physical hardware like RFID readers and barriers.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TollWise — Stage 1 Review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TollWise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TollWise is a web-based platform that digitizes and automates the toll collection process — replacing manual, hardware-heavy operations with a smart, software-driven system.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of the System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712464"/>
            <a:ext cx="128016" cy="12801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584448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manual intervention in toll collection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169664"/>
            <a:ext cx="128016" cy="12801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041648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congestion and waiting time at plazas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626864"/>
            <a:ext cx="128016" cy="12801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498848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reliable, digital, and transparent system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5084064"/>
            <a:ext cx="128016" cy="12801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956048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 the foundation for future AI-based automation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406640" y="1371600"/>
            <a:ext cx="4206240" cy="4572000"/>
          </a:xfrm>
          <a:prstGeom prst="roundRect">
            <a:avLst>
              <a:gd name="adj" fmla="val 3043"/>
            </a:avLst>
          </a:prstGeom>
          <a:solidFill>
            <a:srgbClr val="EAF1FE"/>
          </a:solidFill>
          <a:ln/>
        </p:spPr>
      </p:sp>
      <p:sp>
        <p:nvSpPr>
          <p:cNvPr id="15" name="Shape 13"/>
          <p:cNvSpPr/>
          <p:nvPr/>
        </p:nvSpPr>
        <p:spPr>
          <a:xfrm>
            <a:off x="8915400" y="1828800"/>
            <a:ext cx="1188720" cy="11887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6" name="Image 0" descr="/home/claude/tollwise/icons/go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9934" y="1983334"/>
            <a:ext cx="879653" cy="879653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680960" y="3291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Smart. Digital. Reliable.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863840" y="384048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stage-1 foundation built to scale toward full AI-based automation in future stages.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TollWise — Stage 1 Review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F4F8F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828800"/>
            <a:ext cx="914400" cy="914400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5" name="Image 0" descr="/home/claude/tollwise/icons/autom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947672"/>
            <a:ext cx="676656" cy="6766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20240" y="169164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Toll Management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920240" y="2167128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toll operations digitally without manual gate control.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63640" y="141732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F4F8FE"/>
          </a:solidFill>
          <a:ln/>
        </p:spPr>
      </p:sp>
      <p:sp>
        <p:nvSpPr>
          <p:cNvPr id="9" name="Shape 6"/>
          <p:cNvSpPr/>
          <p:nvPr/>
        </p:nvSpPr>
        <p:spPr>
          <a:xfrm>
            <a:off x="6537960" y="1828800"/>
            <a:ext cx="914400" cy="914400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10" name="Image 1" descr="/home/claude/tollwise/icons/redu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1947672"/>
            <a:ext cx="676656" cy="6766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35240" y="169164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Manual Work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635240" y="2167128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down human effort in vehicle and payment processing.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374904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F4F8FE"/>
          </a:solidFill>
          <a:ln/>
        </p:spPr>
      </p:sp>
      <p:sp>
        <p:nvSpPr>
          <p:cNvPr id="14" name="Shape 10"/>
          <p:cNvSpPr/>
          <p:nvPr/>
        </p:nvSpPr>
        <p:spPr>
          <a:xfrm>
            <a:off x="822960" y="4160520"/>
            <a:ext cx="914400" cy="914400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15" name="Image 2" descr="/home/claude/tollwise/icons/record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4279392"/>
            <a:ext cx="676656" cy="6766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920240" y="402336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Transaction Records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920240" y="4498848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an accurate, searchable log of every toll transaction.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263640" y="374904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F4F8FE"/>
          </a:solidFill>
          <a:ln/>
        </p:spPr>
      </p:sp>
      <p:sp>
        <p:nvSpPr>
          <p:cNvPr id="19" name="Shape 14"/>
          <p:cNvSpPr/>
          <p:nvPr/>
        </p:nvSpPr>
        <p:spPr>
          <a:xfrm>
            <a:off x="6537960" y="4160520"/>
            <a:ext cx="914400" cy="914400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20" name="Image 3" descr="/home/claude/tollwise/icons/dashboard_ui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4279392"/>
            <a:ext cx="676656" cy="67665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35240" y="402336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User-Friendly Dashboard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7635240" y="4498848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admins a clear view of plazas, vehicles, and payments.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TollWise — Stage 1 Review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1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F4F8FE"/>
          </a:solidFill>
          <a:ln/>
        </p:spPr>
      </p:sp>
      <p:sp>
        <p:nvSpPr>
          <p:cNvPr id="4" name="Shape 2"/>
          <p:cNvSpPr/>
          <p:nvPr/>
        </p:nvSpPr>
        <p:spPr>
          <a:xfrm>
            <a:off x="1463040" y="1755648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5" name="Image 0" descr="/home/claude/tollwise/icons/au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0025" y="1862633"/>
            <a:ext cx="608990" cy="6089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2697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383280" y="146304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F4F8FE"/>
          </a:solidFill>
          <a:ln/>
        </p:spPr>
      </p:sp>
      <p:sp>
        <p:nvSpPr>
          <p:cNvPr id="8" name="Shape 5"/>
          <p:cNvSpPr/>
          <p:nvPr/>
        </p:nvSpPr>
        <p:spPr>
          <a:xfrm>
            <a:off x="4297680" y="1755648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9" name="Image 1" descr="/home/claude/tollwise/icons/vehi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4665" y="1862633"/>
            <a:ext cx="608990" cy="60899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20440" y="2697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Management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217920" y="146304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F4F8FE"/>
          </a:solidFill>
          <a:ln/>
        </p:spPr>
      </p:sp>
      <p:sp>
        <p:nvSpPr>
          <p:cNvPr id="12" name="Shape 8"/>
          <p:cNvSpPr/>
          <p:nvPr/>
        </p:nvSpPr>
        <p:spPr>
          <a:xfrm>
            <a:off x="7132320" y="1755648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3" name="Image 2" descr="/home/claude/tollwise/icons/plaz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305" y="1862633"/>
            <a:ext cx="608990" cy="60899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355080" y="2697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Toll Plaza Management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9052560" y="146304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F4F8FE"/>
          </a:solidFill>
          <a:ln/>
        </p:spPr>
      </p:sp>
      <p:sp>
        <p:nvSpPr>
          <p:cNvPr id="16" name="Shape 11"/>
          <p:cNvSpPr/>
          <p:nvPr/>
        </p:nvSpPr>
        <p:spPr>
          <a:xfrm>
            <a:off x="9966960" y="1755648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7" name="Image 3" descr="/home/claude/tollwise/icons/cal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3945" y="1862633"/>
            <a:ext cx="608990" cy="60899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189720" y="2697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Toll Calculation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548640" y="379476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F4F8FE"/>
          </a:solidFill>
          <a:ln/>
        </p:spPr>
      </p:sp>
      <p:sp>
        <p:nvSpPr>
          <p:cNvPr id="20" name="Shape 14"/>
          <p:cNvSpPr/>
          <p:nvPr/>
        </p:nvSpPr>
        <p:spPr>
          <a:xfrm>
            <a:off x="1463040" y="4087368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1" name="Image 4" descr="/home/claude/tollwise/icons/payme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0025" y="4194353"/>
            <a:ext cx="608990" cy="60899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85800" y="50292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Simulation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3383280" y="379476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F4F8FE"/>
          </a:solidFill>
          <a:ln/>
        </p:spPr>
      </p:sp>
      <p:sp>
        <p:nvSpPr>
          <p:cNvPr id="24" name="Shape 17"/>
          <p:cNvSpPr/>
          <p:nvPr/>
        </p:nvSpPr>
        <p:spPr>
          <a:xfrm>
            <a:off x="4297680" y="4087368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5" name="Image 5" descr="/home/claude/tollwise/icons/histor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4665" y="4194353"/>
            <a:ext cx="608990" cy="60899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3520440" y="50292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History</a:t>
            </a:r>
            <a:endParaRPr lang="en-US" sz="1300" dirty="0"/>
          </a:p>
        </p:txBody>
      </p:sp>
      <p:sp>
        <p:nvSpPr>
          <p:cNvPr id="27" name="Shape 19"/>
          <p:cNvSpPr/>
          <p:nvPr/>
        </p:nvSpPr>
        <p:spPr>
          <a:xfrm>
            <a:off x="6217920" y="379476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F4F8FE"/>
          </a:solidFill>
          <a:ln/>
        </p:spPr>
      </p:sp>
      <p:sp>
        <p:nvSpPr>
          <p:cNvPr id="28" name="Shape 20"/>
          <p:cNvSpPr/>
          <p:nvPr/>
        </p:nvSpPr>
        <p:spPr>
          <a:xfrm>
            <a:off x="7132320" y="4087368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9" name="Image 6" descr="/home/claude/tollwise/icons/dashboard2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305" y="4194353"/>
            <a:ext cx="608990" cy="60899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355080" y="50292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31" name="Shape 22"/>
          <p:cNvSpPr/>
          <p:nvPr/>
        </p:nvSpPr>
        <p:spPr>
          <a:xfrm>
            <a:off x="9052560" y="379476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F4F8FE"/>
          </a:solidFill>
          <a:ln/>
        </p:spPr>
      </p:sp>
      <p:sp>
        <p:nvSpPr>
          <p:cNvPr id="32" name="Shape 23"/>
          <p:cNvSpPr/>
          <p:nvPr/>
        </p:nvSpPr>
        <p:spPr>
          <a:xfrm>
            <a:off x="9966960" y="4087368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33" name="Image 7" descr="/home/claude/tollwise/icons/report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73945" y="4194353"/>
            <a:ext cx="608990" cy="60899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9189720" y="50292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300" dirty="0"/>
          </a:p>
        </p:txBody>
      </p:sp>
      <p:sp>
        <p:nvSpPr>
          <p:cNvPr id="35" name="Text 2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TollWise — Stage 1 Review</a:t>
            </a:r>
            <a:endParaRPr lang="en-US" sz="1000" dirty="0"/>
          </a:p>
        </p:txBody>
      </p:sp>
      <p:sp>
        <p:nvSpPr>
          <p:cNvPr id="36" name="Text 2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three-tier architecture powers TollWise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351276" y="1691640"/>
            <a:ext cx="5486400" cy="1051560"/>
          </a:xfrm>
          <a:prstGeom prst="roundRect">
            <a:avLst>
              <a:gd name="adj" fmla="val 8696"/>
            </a:avLst>
          </a:prstGeom>
          <a:solidFill>
            <a:srgbClr val="1E3A8A"/>
          </a:solidFill>
          <a:ln/>
        </p:spPr>
      </p:sp>
      <p:sp>
        <p:nvSpPr>
          <p:cNvPr id="5" name="Shape 3"/>
          <p:cNvSpPr/>
          <p:nvPr/>
        </p:nvSpPr>
        <p:spPr>
          <a:xfrm>
            <a:off x="3625596" y="1851660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6" name="Image 0" descr="/home/claude/tollwise/icons/react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20694" y="1946758"/>
            <a:ext cx="541325" cy="5413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631436" y="1819656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631436" y="222199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1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user interface &amp; dashboard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929884" y="2798064"/>
            <a:ext cx="329184" cy="667512"/>
          </a:xfrm>
          <a:prstGeom prst="downArrow">
            <a:avLst/>
          </a:prstGeom>
          <a:solidFill>
            <a:srgbClr val="2563EB"/>
          </a:solidFill>
          <a:ln/>
        </p:spPr>
      </p:sp>
      <p:sp>
        <p:nvSpPr>
          <p:cNvPr id="10" name="Shape 7"/>
          <p:cNvSpPr/>
          <p:nvPr/>
        </p:nvSpPr>
        <p:spPr>
          <a:xfrm>
            <a:off x="3351276" y="3520440"/>
            <a:ext cx="5486400" cy="1051560"/>
          </a:xfrm>
          <a:prstGeom prst="roundRect">
            <a:avLst>
              <a:gd name="adj" fmla="val 8696"/>
            </a:avLst>
          </a:prstGeom>
          <a:solidFill>
            <a:srgbClr val="1E3A8A"/>
          </a:solidFill>
          <a:ln/>
        </p:spPr>
      </p:sp>
      <p:sp>
        <p:nvSpPr>
          <p:cNvPr id="11" name="Shape 8"/>
          <p:cNvSpPr/>
          <p:nvPr/>
        </p:nvSpPr>
        <p:spPr>
          <a:xfrm>
            <a:off x="3625596" y="3680460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2" name="Image 1" descr="/home/claude/tollwise/icons/node_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0694" y="3775558"/>
            <a:ext cx="541325" cy="5413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31436" y="3648456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631436" y="405079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1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business logic &amp; APIs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929884" y="4626864"/>
            <a:ext cx="329184" cy="667512"/>
          </a:xfrm>
          <a:prstGeom prst="downArrow">
            <a:avLst/>
          </a:prstGeom>
          <a:solidFill>
            <a:srgbClr val="2563EB"/>
          </a:solidFill>
          <a:ln/>
        </p:spPr>
      </p:sp>
      <p:sp>
        <p:nvSpPr>
          <p:cNvPr id="16" name="Shape 12"/>
          <p:cNvSpPr/>
          <p:nvPr/>
        </p:nvSpPr>
        <p:spPr>
          <a:xfrm>
            <a:off x="3351276" y="5349240"/>
            <a:ext cx="5486400" cy="1051560"/>
          </a:xfrm>
          <a:prstGeom prst="roundRect">
            <a:avLst>
              <a:gd name="adj" fmla="val 8696"/>
            </a:avLst>
          </a:prstGeom>
          <a:solidFill>
            <a:srgbClr val="1E3A8A"/>
          </a:solidFill>
          <a:ln/>
        </p:spPr>
      </p:sp>
      <p:sp>
        <p:nvSpPr>
          <p:cNvPr id="17" name="Shape 13"/>
          <p:cNvSpPr/>
          <p:nvPr/>
        </p:nvSpPr>
        <p:spPr>
          <a:xfrm>
            <a:off x="3625596" y="5509260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8" name="Image 2" descr="/home/claude/tollwise/icons/mongo_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0694" y="5604358"/>
            <a:ext cx="541325" cy="5413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631436" y="5477256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4631436" y="587959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1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— persistent data storage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TollWise — Stage 1 Review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user journey through the TollWise system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90956" y="2194560"/>
            <a:ext cx="1600200" cy="1737360"/>
          </a:xfrm>
          <a:prstGeom prst="roundRect">
            <a:avLst>
              <a:gd name="adj" fmla="val 5714"/>
            </a:avLst>
          </a:prstGeom>
          <a:solidFill>
            <a:srgbClr val="F4F8FE"/>
          </a:solidFill>
          <a:ln/>
        </p:spPr>
      </p:sp>
      <p:sp>
        <p:nvSpPr>
          <p:cNvPr id="5" name="Shape 3"/>
          <p:cNvSpPr/>
          <p:nvPr/>
        </p:nvSpPr>
        <p:spPr>
          <a:xfrm>
            <a:off x="1225296" y="2395728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6" name="Image 0" descr="/home/claude/tollwise/icons/login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0394" y="2490826"/>
            <a:ext cx="541325" cy="5413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6676" y="3182112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2409444" y="2944368"/>
            <a:ext cx="164592" cy="237744"/>
          </a:xfrm>
          <a:prstGeom prst="rightArrow">
            <a:avLst/>
          </a:prstGeom>
          <a:solidFill>
            <a:srgbClr val="2563EB"/>
          </a:solidFill>
          <a:ln/>
        </p:spPr>
      </p:sp>
      <p:sp>
        <p:nvSpPr>
          <p:cNvPr id="9" name="Shape 6"/>
          <p:cNvSpPr/>
          <p:nvPr/>
        </p:nvSpPr>
        <p:spPr>
          <a:xfrm>
            <a:off x="2592324" y="2194560"/>
            <a:ext cx="1600200" cy="1737360"/>
          </a:xfrm>
          <a:prstGeom prst="roundRect">
            <a:avLst>
              <a:gd name="adj" fmla="val 5714"/>
            </a:avLst>
          </a:prstGeom>
          <a:solidFill>
            <a:srgbClr val="F4F8FE"/>
          </a:solidFill>
          <a:ln/>
        </p:spPr>
      </p:sp>
      <p:sp>
        <p:nvSpPr>
          <p:cNvPr id="10" name="Shape 7"/>
          <p:cNvSpPr/>
          <p:nvPr/>
        </p:nvSpPr>
        <p:spPr>
          <a:xfrm>
            <a:off x="3026664" y="2395728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1" name="Image 1" descr="/home/claude/tollwise/icons/vehi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1762" y="2490826"/>
            <a:ext cx="541325" cy="5413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38044" y="3182112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210812" y="2944368"/>
            <a:ext cx="164592" cy="237744"/>
          </a:xfrm>
          <a:prstGeom prst="rightArrow">
            <a:avLst/>
          </a:prstGeom>
          <a:solidFill>
            <a:srgbClr val="2563EB"/>
          </a:solidFill>
          <a:ln/>
        </p:spPr>
      </p:sp>
      <p:sp>
        <p:nvSpPr>
          <p:cNvPr id="14" name="Shape 10"/>
          <p:cNvSpPr/>
          <p:nvPr/>
        </p:nvSpPr>
        <p:spPr>
          <a:xfrm>
            <a:off x="4393692" y="2194560"/>
            <a:ext cx="1600200" cy="1737360"/>
          </a:xfrm>
          <a:prstGeom prst="roundRect">
            <a:avLst>
              <a:gd name="adj" fmla="val 5714"/>
            </a:avLst>
          </a:prstGeom>
          <a:solidFill>
            <a:srgbClr val="F4F8FE"/>
          </a:solidFill>
          <a:ln/>
        </p:spPr>
      </p:sp>
      <p:sp>
        <p:nvSpPr>
          <p:cNvPr id="15" name="Shape 11"/>
          <p:cNvSpPr/>
          <p:nvPr/>
        </p:nvSpPr>
        <p:spPr>
          <a:xfrm>
            <a:off x="4828032" y="2395728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6" name="Image 2" descr="/home/claude/tollwise/icons/cal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3130" y="2490826"/>
            <a:ext cx="541325" cy="5413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439412" y="3182112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012180" y="2944368"/>
            <a:ext cx="164592" cy="237744"/>
          </a:xfrm>
          <a:prstGeom prst="rightArrow">
            <a:avLst/>
          </a:prstGeom>
          <a:solidFill>
            <a:srgbClr val="2563EB"/>
          </a:solidFill>
          <a:ln/>
        </p:spPr>
      </p:sp>
      <p:sp>
        <p:nvSpPr>
          <p:cNvPr id="19" name="Shape 14"/>
          <p:cNvSpPr/>
          <p:nvPr/>
        </p:nvSpPr>
        <p:spPr>
          <a:xfrm>
            <a:off x="6195060" y="2194560"/>
            <a:ext cx="1600200" cy="1737360"/>
          </a:xfrm>
          <a:prstGeom prst="roundRect">
            <a:avLst>
              <a:gd name="adj" fmla="val 5714"/>
            </a:avLst>
          </a:prstGeom>
          <a:solidFill>
            <a:srgbClr val="F4F8FE"/>
          </a:solidFill>
          <a:ln/>
        </p:spPr>
      </p:sp>
      <p:sp>
        <p:nvSpPr>
          <p:cNvPr id="20" name="Shape 15"/>
          <p:cNvSpPr/>
          <p:nvPr/>
        </p:nvSpPr>
        <p:spPr>
          <a:xfrm>
            <a:off x="6629400" y="2395728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1" name="Image 3" descr="/home/claude/tollwise/icons/paym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498" y="2490826"/>
            <a:ext cx="541325" cy="5413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240780" y="3182112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7813548" y="2944368"/>
            <a:ext cx="164592" cy="237744"/>
          </a:xfrm>
          <a:prstGeom prst="rightArrow">
            <a:avLst/>
          </a:prstGeom>
          <a:solidFill>
            <a:srgbClr val="2563EB"/>
          </a:solidFill>
          <a:ln/>
        </p:spPr>
      </p:sp>
      <p:sp>
        <p:nvSpPr>
          <p:cNvPr id="24" name="Shape 18"/>
          <p:cNvSpPr/>
          <p:nvPr/>
        </p:nvSpPr>
        <p:spPr>
          <a:xfrm>
            <a:off x="7996428" y="2194560"/>
            <a:ext cx="1600200" cy="1737360"/>
          </a:xfrm>
          <a:prstGeom prst="roundRect">
            <a:avLst>
              <a:gd name="adj" fmla="val 5714"/>
            </a:avLst>
          </a:prstGeom>
          <a:solidFill>
            <a:srgbClr val="F4F8FE"/>
          </a:solidFill>
          <a:ln/>
        </p:spPr>
      </p:sp>
      <p:sp>
        <p:nvSpPr>
          <p:cNvPr id="25" name="Shape 19"/>
          <p:cNvSpPr/>
          <p:nvPr/>
        </p:nvSpPr>
        <p:spPr>
          <a:xfrm>
            <a:off x="8430768" y="2395728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6" name="Image 4" descr="/home/claude/tollwise/icons/receipt_flo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5866" y="2490826"/>
            <a:ext cx="541325" cy="54132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042148" y="3182112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9614916" y="2944368"/>
            <a:ext cx="164592" cy="237744"/>
          </a:xfrm>
          <a:prstGeom prst="rightArrow">
            <a:avLst/>
          </a:prstGeom>
          <a:solidFill>
            <a:srgbClr val="2563EB"/>
          </a:solidFill>
          <a:ln/>
        </p:spPr>
      </p:sp>
      <p:sp>
        <p:nvSpPr>
          <p:cNvPr id="29" name="Shape 22"/>
          <p:cNvSpPr/>
          <p:nvPr/>
        </p:nvSpPr>
        <p:spPr>
          <a:xfrm>
            <a:off x="9797796" y="2194560"/>
            <a:ext cx="1600200" cy="1737360"/>
          </a:xfrm>
          <a:prstGeom prst="roundRect">
            <a:avLst>
              <a:gd name="adj" fmla="val 5714"/>
            </a:avLst>
          </a:prstGeom>
          <a:solidFill>
            <a:srgbClr val="F4F8FE"/>
          </a:solidFill>
          <a:ln/>
        </p:spPr>
      </p:sp>
      <p:sp>
        <p:nvSpPr>
          <p:cNvPr id="30" name="Shape 23"/>
          <p:cNvSpPr/>
          <p:nvPr/>
        </p:nvSpPr>
        <p:spPr>
          <a:xfrm>
            <a:off x="10232136" y="2395728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31" name="Image 5" descr="/home/claude/tollwise/icons/dashboard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27234" y="2490826"/>
            <a:ext cx="541325" cy="54132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843516" y="3182112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is logged, giving Stage 1 a complete, traceable transaction flow.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TollWise — Stage 1 Review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94360" y="182880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4F8FE"/>
          </a:solidFill>
          <a:ln/>
        </p:spPr>
      </p:sp>
      <p:sp>
        <p:nvSpPr>
          <p:cNvPr id="4" name="Shape 2"/>
          <p:cNvSpPr/>
          <p:nvPr/>
        </p:nvSpPr>
        <p:spPr>
          <a:xfrm>
            <a:off x="1394460" y="2240280"/>
            <a:ext cx="1005840" cy="1005840"/>
          </a:xfrm>
          <a:prstGeom prst="ellipse">
            <a:avLst/>
          </a:prstGeom>
          <a:solidFill>
            <a:srgbClr val="EAF1FE"/>
          </a:solidFill>
          <a:ln/>
        </p:spPr>
      </p:sp>
      <p:pic>
        <p:nvPicPr>
          <p:cNvPr id="5" name="Image 0" descr="/home/claude/tollwise/icons/front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5219" y="2371039"/>
            <a:ext cx="744322" cy="74432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35204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520" y="40233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456432" y="182880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4F8FE"/>
          </a:solidFill>
          <a:ln/>
        </p:spPr>
      </p:sp>
      <p:sp>
        <p:nvSpPr>
          <p:cNvPr id="9" name="Shape 6"/>
          <p:cNvSpPr/>
          <p:nvPr/>
        </p:nvSpPr>
        <p:spPr>
          <a:xfrm>
            <a:off x="4256532" y="2240280"/>
            <a:ext cx="1005840" cy="1005840"/>
          </a:xfrm>
          <a:prstGeom prst="ellipse">
            <a:avLst/>
          </a:prstGeom>
          <a:solidFill>
            <a:srgbClr val="EAF1FE"/>
          </a:solidFill>
          <a:ln/>
        </p:spPr>
      </p:sp>
      <p:pic>
        <p:nvPicPr>
          <p:cNvPr id="10" name="Image 1" descr="/home/claude/tollwise/icons/backe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7291" y="2371039"/>
            <a:ext cx="744322" cy="74432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93592" y="35204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3593592" y="40233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Node.js, Express.js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318504" y="182880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4F8FE"/>
          </a:solidFill>
          <a:ln/>
        </p:spPr>
      </p:sp>
      <p:sp>
        <p:nvSpPr>
          <p:cNvPr id="14" name="Shape 10"/>
          <p:cNvSpPr/>
          <p:nvPr/>
        </p:nvSpPr>
        <p:spPr>
          <a:xfrm>
            <a:off x="7118604" y="2240280"/>
            <a:ext cx="1005840" cy="1005840"/>
          </a:xfrm>
          <a:prstGeom prst="ellipse">
            <a:avLst/>
          </a:prstGeom>
          <a:solidFill>
            <a:srgbClr val="EAF1FE"/>
          </a:solidFill>
          <a:ln/>
        </p:spPr>
      </p:sp>
      <p:pic>
        <p:nvPicPr>
          <p:cNvPr id="15" name="Image 2" descr="/home/claude/tollwise/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9363" y="2371039"/>
            <a:ext cx="744322" cy="74432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55664" y="35204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455664" y="40233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9180576" y="182880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4F8FE"/>
          </a:solidFill>
          <a:ln/>
        </p:spPr>
      </p:sp>
      <p:sp>
        <p:nvSpPr>
          <p:cNvPr id="19" name="Shape 14"/>
          <p:cNvSpPr/>
          <p:nvPr/>
        </p:nvSpPr>
        <p:spPr>
          <a:xfrm>
            <a:off x="9980676" y="2240280"/>
            <a:ext cx="1005840" cy="1005840"/>
          </a:xfrm>
          <a:prstGeom prst="ellipse">
            <a:avLst/>
          </a:prstGeom>
          <a:solidFill>
            <a:srgbClr val="EAF1FE"/>
          </a:solidFill>
          <a:ln/>
        </p:spPr>
      </p:sp>
      <p:pic>
        <p:nvPicPr>
          <p:cNvPr id="20" name="Image 3" descr="/home/claude/tollwise/icons/authsta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1435" y="2371039"/>
            <a:ext cx="744322" cy="74432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317736" y="35204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9317736" y="40233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Auth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TollWise — Stage 1 Review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Output Screens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screens to be demonstrated in Stage 1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38912" y="1828800"/>
            <a:ext cx="2057400" cy="2926080"/>
          </a:xfrm>
          <a:prstGeom prst="roundRect">
            <a:avLst>
              <a:gd name="adj" fmla="val 4444"/>
            </a:avLst>
          </a:prstGeom>
          <a:solidFill>
            <a:srgbClr val="F4F8FE"/>
          </a:solidFill>
          <a:ln w="12700">
            <a:solidFill>
              <a:srgbClr val="EAF1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1852" y="2148840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6" name="Image 0" descr="/home/claude/tollwise/icons/sc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6950" y="2243938"/>
            <a:ext cx="541325" cy="5413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30352" y="41148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752344" y="1828800"/>
            <a:ext cx="2057400" cy="2926080"/>
          </a:xfrm>
          <a:prstGeom prst="roundRect">
            <a:avLst>
              <a:gd name="adj" fmla="val 4444"/>
            </a:avLst>
          </a:prstGeom>
          <a:solidFill>
            <a:srgbClr val="F4F8FE"/>
          </a:solidFill>
          <a:ln w="12700">
            <a:solidFill>
              <a:srgbClr val="EAF1F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15284" y="2148840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0" name="Image 1" descr="/home/claude/tollwise/icons/sc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0382" y="2243938"/>
            <a:ext cx="541325" cy="5413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843784" y="41148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065776" y="1828800"/>
            <a:ext cx="2057400" cy="2926080"/>
          </a:xfrm>
          <a:prstGeom prst="roundRect">
            <a:avLst>
              <a:gd name="adj" fmla="val 4444"/>
            </a:avLst>
          </a:prstGeom>
          <a:solidFill>
            <a:srgbClr val="F4F8FE"/>
          </a:solidFill>
          <a:ln w="12700">
            <a:solidFill>
              <a:srgbClr val="EAF1F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728716" y="2148840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4" name="Image 2" descr="/home/claude/tollwise/icons/sc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3814" y="2243938"/>
            <a:ext cx="541325" cy="54132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157216" y="41148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Management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7379208" y="1828800"/>
            <a:ext cx="2057400" cy="2926080"/>
          </a:xfrm>
          <a:prstGeom prst="roundRect">
            <a:avLst>
              <a:gd name="adj" fmla="val 4444"/>
            </a:avLst>
          </a:prstGeom>
          <a:solidFill>
            <a:srgbClr val="F4F8FE"/>
          </a:solidFill>
          <a:ln w="12700">
            <a:solidFill>
              <a:srgbClr val="EAF1FE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042148" y="2148840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8" name="Image 3" descr="/home/claude/tollwise/icons/sc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7246" y="2243938"/>
            <a:ext cx="541325" cy="54132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470648" y="41148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9692640" y="1828800"/>
            <a:ext cx="2057400" cy="2926080"/>
          </a:xfrm>
          <a:prstGeom prst="roundRect">
            <a:avLst>
              <a:gd name="adj" fmla="val 4444"/>
            </a:avLst>
          </a:prstGeom>
          <a:solidFill>
            <a:srgbClr val="F4F8FE"/>
          </a:solidFill>
          <a:ln w="12700">
            <a:solidFill>
              <a:srgbClr val="EAF1FE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0355580" y="2148840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2" name="Image 4" descr="/home/claude/tollwise/icons/sc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0678" y="2243938"/>
            <a:ext cx="541325" cy="54132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784080" y="41148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TollWise — Stage 1 Review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lays the foundation. Stage 2 will extend TollWise with intelligent, hardware-free automation: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5394960" cy="3017520"/>
          </a:xfrm>
          <a:prstGeom prst="roundRect">
            <a:avLst>
              <a:gd name="adj" fmla="val 3636"/>
            </a:avLst>
          </a:prstGeom>
          <a:solidFill>
            <a:srgbClr val="EAF1FE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0" y="2560320"/>
            <a:ext cx="1005840" cy="100584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6" name="Image 0" descr="/home/claude/tollwise/icons/fu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73959" y="2691079"/>
            <a:ext cx="744322" cy="7443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7947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Number Plate Recognition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60120" y="43434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vehicle identification using computer vision, removing the need for manual entry or RFID hardware.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09360" y="2194560"/>
            <a:ext cx="5394960" cy="3017520"/>
          </a:xfrm>
          <a:prstGeom prst="roundRect">
            <a:avLst>
              <a:gd name="adj" fmla="val 3636"/>
            </a:avLst>
          </a:prstGeom>
          <a:solidFill>
            <a:srgbClr val="EAF1FE"/>
          </a:solidFill>
          <a:ln/>
        </p:spPr>
      </p:sp>
      <p:sp>
        <p:nvSpPr>
          <p:cNvPr id="10" name="Shape 7"/>
          <p:cNvSpPr/>
          <p:nvPr/>
        </p:nvSpPr>
        <p:spPr>
          <a:xfrm>
            <a:off x="8503920" y="2560320"/>
            <a:ext cx="1005840" cy="100584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1" name="Image 1" descr="/home/claude/tollwise/icons/g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4679" y="2691079"/>
            <a:ext cx="744322" cy="7443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29400" y="37947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Gate System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720840" y="43434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Software-controlled virtual gating that verifies and processes vehicles without physical barriers.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TollWise — Stage 1 Review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480560"/>
            <a:ext cx="3840480" cy="3840480"/>
          </a:xfrm>
          <a:prstGeom prst="ellipse">
            <a:avLst/>
          </a:prstGeom>
          <a:solidFill>
            <a:srgbClr val="EAF1FE"/>
          </a:solidFill>
          <a:ln/>
        </p:spPr>
      </p:sp>
      <p:sp>
        <p:nvSpPr>
          <p:cNvPr id="3" name="Shape 1"/>
          <p:cNvSpPr/>
          <p:nvPr/>
        </p:nvSpPr>
        <p:spPr>
          <a:xfrm>
            <a:off x="9994392" y="-1828800"/>
            <a:ext cx="3657600" cy="3657600"/>
          </a:xfrm>
          <a:prstGeom prst="ellipse">
            <a:avLst/>
          </a:prstGeom>
          <a:solidFill>
            <a:srgbClr val="F4F8FE"/>
          </a:solidFill>
          <a:ln/>
        </p:spPr>
      </p:sp>
      <p:sp>
        <p:nvSpPr>
          <p:cNvPr id="4" name="Shape 2"/>
          <p:cNvSpPr/>
          <p:nvPr/>
        </p:nvSpPr>
        <p:spPr>
          <a:xfrm>
            <a:off x="5545836" y="822960"/>
            <a:ext cx="1097280" cy="109728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5" name="Image 0" descr="/home/claude/tollwise/icons/conclu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8482" y="965606"/>
            <a:ext cx="811987" cy="81198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05740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828800" y="2880360"/>
            <a:ext cx="85313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TollWise Stage 1 delivers a complete, working prototype of a digital toll management system — covering authentication, vehicle and plaza management, toll calculation, payment simulation, and reporting. It replaces manual, hardware-heavy processes with a clean, scalable software foundation, ready to evolve into a fully AI-automated solution in Stage 2.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502920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TollWise — Stage 1 Review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2026-07-31T13:59:41Z</dcterms:created>
  <dcterms:modified xsi:type="dcterms:W3CDTF">2026-07-31T13:59:41Z</dcterms:modified>
</cp:coreProperties>
</file>