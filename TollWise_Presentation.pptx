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image" Target="../media/image-1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image" Target="../media/image-17-1.png"/><Relationship Id="rId6" Type="http://schemas.openxmlformats.org/officeDocument/2006/relationships/image" Target="../media/image-17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5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5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8316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417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MAJOR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1828800"/>
            <a:ext cx="121889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TollWise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522476" y="2971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Automated Toll Collection and Gating System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180076" y="3703320"/>
            <a:ext cx="1828800" cy="0"/>
          </a:xfrm>
          <a:prstGeom prst="line">
            <a:avLst/>
          </a:prstGeom>
          <a:noFill/>
          <a:ln w="19050">
            <a:solidFill>
              <a:srgbClr val="2E7BD6"/>
            </a:solidFill>
            <a:prstDash val="solid"/>
          </a:ln>
        </p:spPr>
      </p:sp>
      <p:pic>
        <p:nvPicPr>
          <p:cNvPr id="9" name="Image 0" descr="icons/titl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397764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0" y="55321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0" y="5870448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[Student Name]   |   Reg. No: [Registration Number]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0" y="6163056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of: [Guide Name], [Designation]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84048" cy="384048"/>
          </a:xfrm>
          <a:prstGeom prst="rect">
            <a:avLst>
              <a:gd name="adj" fmla="val 19048"/>
            </a:avLst>
          </a:prstGeom>
          <a:solidFill>
            <a:srgbClr val="EAF1F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141732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929384"/>
            <a:ext cx="384048" cy="384048"/>
          </a:xfrm>
          <a:prstGeom prst="rect">
            <a:avLst>
              <a:gd name="adj" fmla="val 19048"/>
            </a:avLst>
          </a:prstGeom>
          <a:solidFill>
            <a:srgbClr val="EAF1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93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1929384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441448"/>
            <a:ext cx="384048" cy="384048"/>
          </a:xfrm>
          <a:prstGeom prst="rect">
            <a:avLst>
              <a:gd name="adj" fmla="val 19048"/>
            </a:avLst>
          </a:prstGeom>
          <a:solidFill>
            <a:srgbClr val="EAF1F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41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2441448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2953512"/>
            <a:ext cx="384048" cy="384048"/>
          </a:xfrm>
          <a:prstGeom prst="rect">
            <a:avLst>
              <a:gd name="adj" fmla="val 19048"/>
            </a:avLst>
          </a:prstGeom>
          <a:solidFill>
            <a:srgbClr val="EAF1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53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0432" y="295351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3465576"/>
            <a:ext cx="384048" cy="384048"/>
          </a:xfrm>
          <a:prstGeom prst="rect">
            <a:avLst>
              <a:gd name="adj" fmla="val 19048"/>
            </a:avLst>
          </a:prstGeom>
          <a:solidFill>
            <a:srgbClr val="EAF1F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70432" y="3465576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384048" cy="384048"/>
          </a:xfrm>
          <a:prstGeom prst="rect">
            <a:avLst>
              <a:gd name="adj" fmla="val 19048"/>
            </a:avLst>
          </a:prstGeom>
          <a:solidFill>
            <a:srgbClr val="EAF1F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70432" y="397764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Specifications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0080" y="4489704"/>
            <a:ext cx="384048" cy="384048"/>
          </a:xfrm>
          <a:prstGeom prst="rect">
            <a:avLst>
              <a:gd name="adj" fmla="val 19048"/>
            </a:avLst>
          </a:prstGeom>
          <a:solidFill>
            <a:srgbClr val="EAF1F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89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70432" y="4489704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40080" y="5001768"/>
            <a:ext cx="384048" cy="384048"/>
          </a:xfrm>
          <a:prstGeom prst="rect">
            <a:avLst>
              <a:gd name="adj" fmla="val 19048"/>
            </a:avLst>
          </a:prstGeom>
          <a:solidFill>
            <a:srgbClr val="EAF1F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001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70432" y="5001768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Methodology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309360" y="1417320"/>
            <a:ext cx="384048" cy="384048"/>
          </a:xfrm>
          <a:prstGeom prst="rect">
            <a:avLst>
              <a:gd name="adj" fmla="val 19048"/>
            </a:avLst>
          </a:prstGeom>
          <a:solidFill>
            <a:srgbClr val="EAF1FB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39712" y="141732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Modules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309360" y="1929384"/>
            <a:ext cx="384048" cy="384048"/>
          </a:xfrm>
          <a:prstGeom prst="rect">
            <a:avLst>
              <a:gd name="adj" fmla="val 19048"/>
            </a:avLst>
          </a:prstGeom>
          <a:solidFill>
            <a:srgbClr val="EAF1FB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19293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39712" y="1929384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AI Modules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309360" y="2441448"/>
            <a:ext cx="384048" cy="384048"/>
          </a:xfrm>
          <a:prstGeom prst="rect">
            <a:avLst>
              <a:gd name="adj" fmla="val 19048"/>
            </a:avLst>
          </a:prstGeom>
          <a:solidFill>
            <a:srgbClr val="EAF1FB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2441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39712" y="2441448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309360" y="2953512"/>
            <a:ext cx="384048" cy="384048"/>
          </a:xfrm>
          <a:prstGeom prst="rect">
            <a:avLst>
              <a:gd name="adj" fmla="val 19048"/>
            </a:avLst>
          </a:prstGeom>
          <a:solidFill>
            <a:srgbClr val="EAF1FB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2953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39712" y="295351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6309360" y="3465576"/>
            <a:ext cx="384048" cy="384048"/>
          </a:xfrm>
          <a:prstGeom prst="rect">
            <a:avLst>
              <a:gd name="adj" fmla="val 19048"/>
            </a:avLst>
          </a:prstGeom>
          <a:solidFill>
            <a:srgbClr val="EAF1FB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39712" y="3465576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6309360" y="3977640"/>
            <a:ext cx="384048" cy="384048"/>
          </a:xfrm>
          <a:prstGeom prst="rect">
            <a:avLst>
              <a:gd name="adj" fmla="val 19048"/>
            </a:avLst>
          </a:prstGeom>
          <a:solidFill>
            <a:srgbClr val="EAF1FB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39712" y="397764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6309360" y="4489704"/>
            <a:ext cx="384048" cy="384048"/>
          </a:xfrm>
          <a:prstGeom prst="rect">
            <a:avLst>
              <a:gd name="adj" fmla="val 19048"/>
            </a:avLst>
          </a:prstGeom>
          <a:solidFill>
            <a:srgbClr val="EAF1FB"/>
          </a:solidFill>
          <a:ln/>
        </p:spPr>
      </p:sp>
      <p:sp>
        <p:nvSpPr>
          <p:cNvPr id="46" name="Text 44"/>
          <p:cNvSpPr/>
          <p:nvPr/>
        </p:nvSpPr>
        <p:spPr>
          <a:xfrm>
            <a:off x="6309360" y="4489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39712" y="4489704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AI-Powered Automated Toll Collection and Gating System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 collection today still leans on manual booths and rigid RFID hardware — both struggle to keep pace with rising traffic. TollWise reimagines toll collection as a software-first, AI-driven process.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F">
                <a:alpha val="25000"/>
              </a:srgbClr>
            </a:outerShdw>
          </a:effectLst>
        </p:spPr>
      </p:sp>
      <p:pic>
        <p:nvPicPr>
          <p:cNvPr id="6" name="Image 0" descr="icons/warn_man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265176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70332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Toll Collection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9808" y="4297680"/>
            <a:ext cx="22037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error-prone, and dependent on staff at every booth.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22860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F">
                <a:alpha val="25000"/>
              </a:srgbClr>
            </a:outerShdw>
          </a:effectLst>
        </p:spPr>
      </p:sp>
      <p:pic>
        <p:nvPicPr>
          <p:cNvPr id="10" name="Image 1" descr="icons/warn_hardw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252" y="2651760"/>
            <a:ext cx="822960" cy="8229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75304" y="370332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Dependency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611880" y="4297680"/>
            <a:ext cx="22037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RFID/FASTag readers need costly, fixed physical infrastructure.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72784" y="22860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F">
                <a:alpha val="25000"/>
              </a:srgbClr>
            </a:outerShdw>
          </a:effectLst>
        </p:spPr>
      </p:sp>
      <p:pic>
        <p:nvPicPr>
          <p:cNvPr id="14" name="Image 2" descr="icons/warn_traff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324" y="2651760"/>
            <a:ext cx="822960" cy="8229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37376" y="370332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Congestion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473952" y="4297680"/>
            <a:ext cx="22037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build up at booths, increasing delay and fuel wastage.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9134856" y="22860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B4F9C"/>
          </a:solidFill>
          <a:ln w="12700">
            <a:solidFill>
              <a:srgbClr val="D7E1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F">
                <a:alpha val="25000"/>
              </a:srgbClr>
            </a:outerShdw>
          </a:effectLst>
        </p:spPr>
      </p:sp>
      <p:pic>
        <p:nvPicPr>
          <p:cNvPr id="18" name="Image 3" descr="icons/ai_autom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6396" y="2651760"/>
            <a:ext cx="822960" cy="8229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99448" y="370332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for AI Automation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9336024" y="4297680"/>
            <a:ext cx="22037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AI enables faster, flexible, software-driven tolling.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AI-Powered Automated Toll Collection and Gating System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BD6"/>
            </a:solidFill>
            <a:prstDash val="solid"/>
          </a:ln>
        </p:spPr>
      </p:sp>
      <p:pic>
        <p:nvPicPr>
          <p:cNvPr id="5" name="Image 0" descr="icons/obj_autom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17785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00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Toll Collection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4672" y="2313432"/>
            <a:ext cx="30540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manual checkpoints with an end-to-end automated flow.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4173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1645920"/>
            <a:ext cx="594360" cy="5943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BD6"/>
            </a:solidFill>
            <a:prstDash val="solid"/>
          </a:ln>
        </p:spPr>
      </p:sp>
      <p:pic>
        <p:nvPicPr>
          <p:cNvPr id="10" name="Image 1" descr="icons/obj_anp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588" y="17785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600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Number Plate Recognition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599432" y="2313432"/>
            <a:ext cx="30540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read vehicle plates using YOLO + OCR.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38160" y="14173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66760" y="1645920"/>
            <a:ext cx="594360" cy="5943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BD6"/>
            </a:solidFill>
            <a:prstDash val="solid"/>
          </a:ln>
        </p:spPr>
      </p:sp>
      <p:pic>
        <p:nvPicPr>
          <p:cNvPr id="15" name="Image 2" descr="icons/obj_to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348" y="17785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98280" y="1600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Toll Calculation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394192" y="2313432"/>
            <a:ext cx="30540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applicable toll instantly per vehicle type.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6576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3886200"/>
            <a:ext cx="594360" cy="5943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BD6"/>
            </a:solidFill>
            <a:prstDash val="solid"/>
          </a:ln>
        </p:spPr>
      </p:sp>
      <p:pic>
        <p:nvPicPr>
          <p:cNvPr id="20" name="Image 3" descr="icons/obj_pay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401878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3840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Simulation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04672" y="4553712"/>
            <a:ext cx="30540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secure, cashless toll payment processing.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43400" y="36576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72000" y="3886200"/>
            <a:ext cx="594360" cy="5943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BD6"/>
            </a:solidFill>
            <a:prstDash val="solid"/>
          </a:ln>
        </p:spPr>
      </p:sp>
      <p:pic>
        <p:nvPicPr>
          <p:cNvPr id="25" name="Image 4" descr="icons/obj_dash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588" y="401878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03520" y="3840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599432" y="4553712"/>
            <a:ext cx="30540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operators live visibility into traffic and revenue.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138160" y="36576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366760" y="3886200"/>
            <a:ext cx="594360" cy="5943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BD6"/>
            </a:solidFill>
            <a:prstDash val="solid"/>
          </a:ln>
        </p:spPr>
      </p:sp>
      <p:pic>
        <p:nvPicPr>
          <p:cNvPr id="30" name="Image 5" descr="icons/obj_repor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348" y="4018788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98280" y="3840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Generation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8394192" y="4553712"/>
            <a:ext cx="30540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transaction and analytics reports automatically.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AI-Powered Automated Toll Collection and Gating System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4" name="Image 0" descr="icons/lit_rf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91056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17320"/>
            <a:ext cx="2286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RFID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749040" y="1417320"/>
            <a:ext cx="76809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Radio-frequency tags for automatic vehicle identification at toll points.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340864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8" name="Image 1" descr="icons/lit_fast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5146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340864"/>
            <a:ext cx="2286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749040" y="2340864"/>
            <a:ext cx="76809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RFID-based electronic toll collection deployed nationwide.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264408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12" name="Image 2" descr="icons/lit_oc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438144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264408"/>
            <a:ext cx="2286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749040" y="3264408"/>
            <a:ext cx="76809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Character Recognition converts plate images into readable text.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187952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16" name="Image 3" descr="icons/lit_yol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361688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187952"/>
            <a:ext cx="2286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3749040" y="4187952"/>
            <a:ext cx="76809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object detection model used for locating number plates.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5111496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20" name="Image 4" descr="icons/lit_cv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285232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5111496"/>
            <a:ext cx="2286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3749040" y="5111496"/>
            <a:ext cx="76809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machines to interpret and process visual data from images.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548640" y="6035040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24" name="Image 5" descr="icons/lit_s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6208776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17320" y="6035040"/>
            <a:ext cx="2286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Transportation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3749040" y="6035040"/>
            <a:ext cx="76809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and AI-driven systems that modernize traffic infrastructure.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AI-Powered Automated Toll Collection and Gating System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 of current toll collection approaches: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73152" cy="841248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7" name="Image 0" descr="icons/x_man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157984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65960"/>
            <a:ext cx="2651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Work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206240" y="1965960"/>
            <a:ext cx="7132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heavily on booth staff for verification and cash handling.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916936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916936"/>
            <a:ext cx="73152" cy="841248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2" name="Image 1" descr="icons/x_rf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1089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916936"/>
            <a:ext cx="2651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RFID Dependency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206240" y="2916936"/>
            <a:ext cx="7132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every vehicle to carry and maintain a tag.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867912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3867912"/>
            <a:ext cx="73152" cy="841248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7" name="Image 2" descr="icons/x_co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059936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867912"/>
            <a:ext cx="2651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Infrastructure Cost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206240" y="3867912"/>
            <a:ext cx="7132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Readers, sensors, and booths are expensive to install and maintain.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818888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48640" y="4818888"/>
            <a:ext cx="73152" cy="841248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22" name="Image 3" descr="icons/x_sl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01091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4818888"/>
            <a:ext cx="2651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Verification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206240" y="4818888"/>
            <a:ext cx="7132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Tag/scanner mismatches cause delays and repeated scans.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5769864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48640" y="5769864"/>
            <a:ext cx="73152" cy="841248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27" name="Image 4" descr="icons/x_hum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961888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63040" y="5769864"/>
            <a:ext cx="2651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Intervention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206240" y="5769864"/>
            <a:ext cx="7132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overrides needed for failures, disputes, and exceptions.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AI-Powered Automated Toll Collection and Gating System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TOLLWISE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replaces physical toll infrastructure with a unified AI + software pipeline: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53212" y="2331720"/>
            <a:ext cx="1481328" cy="2377440"/>
          </a:xfrm>
          <a:prstGeom prst="roundRect">
            <a:avLst>
              <a:gd name="adj" fmla="val 5556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6" name="Image 0" descr="icons/prop_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624328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" y="3383280"/>
            <a:ext cx="12984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034540" y="3200400"/>
            <a:ext cx="118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153412" y="2331720"/>
            <a:ext cx="1481328" cy="2377440"/>
          </a:xfrm>
          <a:prstGeom prst="roundRect">
            <a:avLst>
              <a:gd name="adj" fmla="val 5556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10" name="Image 1" descr="icons/prop_oc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468" y="2624328"/>
            <a:ext cx="585216" cy="5852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44852" y="3383280"/>
            <a:ext cx="12984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634740" y="3200400"/>
            <a:ext cx="118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3753612" y="2331720"/>
            <a:ext cx="1481328" cy="2377440"/>
          </a:xfrm>
          <a:prstGeom prst="roundRect">
            <a:avLst>
              <a:gd name="adj" fmla="val 5556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14" name="Image 2" descr="icons/prop_verif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668" y="2624328"/>
            <a:ext cx="585216" cy="5852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45052" y="3383280"/>
            <a:ext cx="12984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Verification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234940" y="3200400"/>
            <a:ext cx="118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353812" y="2331720"/>
            <a:ext cx="1481328" cy="2377440"/>
          </a:xfrm>
          <a:prstGeom prst="roundRect">
            <a:avLst>
              <a:gd name="adj" fmla="val 5556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18" name="Image 3" descr="icons/prop_pay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868" y="2624328"/>
            <a:ext cx="585216" cy="5852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45252" y="3383280"/>
            <a:ext cx="12984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835140" y="3200400"/>
            <a:ext cx="118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954012" y="2331720"/>
            <a:ext cx="1481328" cy="2377440"/>
          </a:xfrm>
          <a:prstGeom prst="roundRect">
            <a:avLst>
              <a:gd name="adj" fmla="val 5556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22" name="Image 4" descr="icons/prop_dash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2068" y="2624328"/>
            <a:ext cx="585216" cy="5852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45452" y="3383280"/>
            <a:ext cx="12984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8435340" y="3200400"/>
            <a:ext cx="118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8554212" y="2331720"/>
            <a:ext cx="1481328" cy="2377440"/>
          </a:xfrm>
          <a:prstGeom prst="roundRect">
            <a:avLst>
              <a:gd name="adj" fmla="val 5556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26" name="Image 5" descr="icons/prop_repor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2268" y="2624328"/>
            <a:ext cx="585216" cy="58521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645652" y="3383280"/>
            <a:ext cx="12984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10035540" y="3200400"/>
            <a:ext cx="118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10154412" y="2331720"/>
            <a:ext cx="1481328" cy="2377440"/>
          </a:xfrm>
          <a:prstGeom prst="roundRect">
            <a:avLst>
              <a:gd name="adj" fmla="val 5556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30" name="Image 6" descr="icons/prop_ga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2468" y="2624328"/>
            <a:ext cx="585216" cy="58521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245852" y="3383280"/>
            <a:ext cx="12984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Gate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software pipeline replaces booths, tag readers, and manual staff — detecting vehicles, reading plates, verifying identity, calculating and processing toll, and logging every transaction end to end.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AI-Powered Automated Toll Collection and Gating System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Specifications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084832" cy="4480560"/>
          </a:xfrm>
          <a:prstGeom prst="roundRect">
            <a:avLst>
              <a:gd name="adj" fmla="val 3947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08760"/>
            <a:ext cx="2084832" cy="914400"/>
          </a:xfrm>
          <a:prstGeom prst="rect">
            <a:avLst/>
          </a:prstGeom>
          <a:solidFill>
            <a:srgbClr val="1B4F9C"/>
          </a:solidFill>
          <a:ln/>
        </p:spPr>
      </p:sp>
      <p:pic>
        <p:nvPicPr>
          <p:cNvPr id="5" name="Image 0" descr="icons/tech_re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655064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6712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3232" y="2651760"/>
            <a:ext cx="175564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802636" y="1508760"/>
            <a:ext cx="2084832" cy="4480560"/>
          </a:xfrm>
          <a:prstGeom prst="roundRect">
            <a:avLst>
              <a:gd name="adj" fmla="val 3947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02636" y="1508760"/>
            <a:ext cx="2084832" cy="914400"/>
          </a:xfrm>
          <a:prstGeom prst="rect">
            <a:avLst/>
          </a:prstGeom>
          <a:solidFill>
            <a:srgbClr val="1B4F9C"/>
          </a:solidFill>
          <a:ln/>
        </p:spPr>
      </p:sp>
      <p:pic>
        <p:nvPicPr>
          <p:cNvPr id="10" name="Image 1" descr="icons/tech_n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444" y="1655064"/>
            <a:ext cx="585216" cy="5852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02636" y="216712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967228" y="2651760"/>
            <a:ext cx="175564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967228" y="3154680"/>
            <a:ext cx="175564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56632" y="1508760"/>
            <a:ext cx="2084832" cy="4480560"/>
          </a:xfrm>
          <a:prstGeom prst="roundRect">
            <a:avLst>
              <a:gd name="adj" fmla="val 3947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56632" y="1508760"/>
            <a:ext cx="2084832" cy="914400"/>
          </a:xfrm>
          <a:prstGeom prst="rect">
            <a:avLst/>
          </a:prstGeom>
          <a:solidFill>
            <a:srgbClr val="1B4F9C"/>
          </a:solidFill>
          <a:ln/>
        </p:spPr>
      </p:sp>
      <p:pic>
        <p:nvPicPr>
          <p:cNvPr id="16" name="Image 2" descr="icons/tech_d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655064"/>
            <a:ext cx="585216" cy="5852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56632" y="216712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221224" y="2651760"/>
            <a:ext cx="175564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10628" y="1508760"/>
            <a:ext cx="2084832" cy="4480560"/>
          </a:xfrm>
          <a:prstGeom prst="roundRect">
            <a:avLst>
              <a:gd name="adj" fmla="val 3947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0628" y="1508760"/>
            <a:ext cx="2084832" cy="914400"/>
          </a:xfrm>
          <a:prstGeom prst="rect">
            <a:avLst/>
          </a:prstGeom>
          <a:solidFill>
            <a:srgbClr val="1B4F9C"/>
          </a:solidFill>
          <a:ln/>
        </p:spPr>
      </p:sp>
      <p:pic>
        <p:nvPicPr>
          <p:cNvPr id="21" name="Image 3" descr="icons/tech_pyth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0436" y="1655064"/>
            <a:ext cx="585216" cy="5852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0628" y="216712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75220" y="2651760"/>
            <a:ext cx="175564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475220" y="3154680"/>
            <a:ext cx="175564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475220" y="3657600"/>
            <a:ext cx="175564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475220" y="4160520"/>
            <a:ext cx="175564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9564624" y="1508760"/>
            <a:ext cx="2084832" cy="4480560"/>
          </a:xfrm>
          <a:prstGeom prst="roundRect">
            <a:avLst>
              <a:gd name="adj" fmla="val 3947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564624" y="1508760"/>
            <a:ext cx="2084832" cy="914400"/>
          </a:xfrm>
          <a:prstGeom prst="rect">
            <a:avLst/>
          </a:prstGeom>
          <a:solidFill>
            <a:srgbClr val="1B4F9C"/>
          </a:solidFill>
          <a:ln/>
        </p:spPr>
      </p:sp>
      <p:pic>
        <p:nvPicPr>
          <p:cNvPr id="29" name="Image 4" descr="icons/tech_clou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4432" y="1655064"/>
            <a:ext cx="585216" cy="58521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564624" y="216712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9729216" y="2651760"/>
            <a:ext cx="175564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9729216" y="3154680"/>
            <a:ext cx="175564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9729216" y="3657600"/>
            <a:ext cx="175564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AI-Powered Automated Toll Collection and Gating System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162556" y="1417320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2E7BD6"/>
          </a:solidFill>
          <a:ln/>
        </p:spPr>
      </p:sp>
      <p:sp>
        <p:nvSpPr>
          <p:cNvPr id="4" name="Text 2"/>
          <p:cNvSpPr/>
          <p:nvPr/>
        </p:nvSpPr>
        <p:spPr>
          <a:xfrm>
            <a:off x="2162556" y="141732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(Frontend)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4476" y="2039112"/>
            <a:ext cx="0" cy="310896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162556" y="2350008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1B4F9C"/>
          </a:solidFill>
          <a:ln/>
        </p:spPr>
      </p:sp>
      <p:sp>
        <p:nvSpPr>
          <p:cNvPr id="7" name="Text 5"/>
          <p:cNvSpPr/>
          <p:nvPr/>
        </p:nvSpPr>
        <p:spPr>
          <a:xfrm>
            <a:off x="2162556" y="2350008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API (Backend)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4476" y="2971800"/>
            <a:ext cx="0" cy="310896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62556" y="3282696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10254A"/>
          </a:solidFill>
          <a:ln/>
        </p:spPr>
      </p:sp>
      <p:sp>
        <p:nvSpPr>
          <p:cNvPr id="10" name="Text 8"/>
          <p:cNvSpPr/>
          <p:nvPr/>
        </p:nvSpPr>
        <p:spPr>
          <a:xfrm>
            <a:off x="2162556" y="3282696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(Database)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94476" y="3904488"/>
            <a:ext cx="0" cy="310896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62556" y="4215384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1B4F9C"/>
          </a:solidFill>
          <a:ln/>
        </p:spPr>
      </p:sp>
      <p:sp>
        <p:nvSpPr>
          <p:cNvPr id="13" name="Text 11"/>
          <p:cNvSpPr/>
          <p:nvPr/>
        </p:nvSpPr>
        <p:spPr>
          <a:xfrm>
            <a:off x="2162556" y="4215384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AI Service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94476" y="4837176"/>
            <a:ext cx="0" cy="310896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162556" y="5148072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2E7BD6"/>
          </a:solidFill>
          <a:ln/>
        </p:spPr>
      </p:sp>
      <p:sp>
        <p:nvSpPr>
          <p:cNvPr id="16" name="Text 14"/>
          <p:cNvSpPr/>
          <p:nvPr/>
        </p:nvSpPr>
        <p:spPr>
          <a:xfrm>
            <a:off x="2162556" y="5148072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 + OCR Engine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4476" y="5769864"/>
            <a:ext cx="0" cy="310896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162556" y="6080760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1B8A5A"/>
          </a:solidFill>
          <a:ln/>
        </p:spPr>
      </p:sp>
      <p:sp>
        <p:nvSpPr>
          <p:cNvPr id="19" name="Text 17"/>
          <p:cNvSpPr/>
          <p:nvPr/>
        </p:nvSpPr>
        <p:spPr>
          <a:xfrm>
            <a:off x="2162556" y="608076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back to Website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AI-Powered Automated Toll Collection and Gating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08660" y="1508760"/>
            <a:ext cx="1993392" cy="868680"/>
          </a:xfrm>
          <a:prstGeom prst="roundRect">
            <a:avLst>
              <a:gd name="adj" fmla="val 9474"/>
            </a:avLst>
          </a:prstGeom>
          <a:solidFill>
            <a:srgbClr val="F5F9FE"/>
          </a:solidFill>
          <a:ln w="12700">
            <a:solidFill>
              <a:srgbClr val="2E7B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2356" y="1362456"/>
            <a:ext cx="365760" cy="365760"/>
          </a:xfrm>
          <a:prstGeom prst="ellipse">
            <a:avLst/>
          </a:prstGeom>
          <a:solidFill>
            <a:srgbClr val="1B4F9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2356" y="1362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0100" y="150876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Vehicle Image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02052" y="1508760"/>
            <a:ext cx="201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03220" y="1508760"/>
            <a:ext cx="1993392" cy="868680"/>
          </a:xfrm>
          <a:prstGeom prst="roundRect">
            <a:avLst>
              <a:gd name="adj" fmla="val 9474"/>
            </a:avLst>
          </a:prstGeom>
          <a:solidFill>
            <a:srgbClr val="F5F9FE"/>
          </a:solidFill>
          <a:ln w="12700">
            <a:solidFill>
              <a:srgbClr val="2E7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56916" y="1362456"/>
            <a:ext cx="365760" cy="365760"/>
          </a:xfrm>
          <a:prstGeom prst="ellipse">
            <a:avLst/>
          </a:prstGeom>
          <a:solidFill>
            <a:srgbClr val="1B4F9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6916" y="1362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94660" y="150876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Detection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96612" y="1508760"/>
            <a:ext cx="201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97780" y="1508760"/>
            <a:ext cx="1993392" cy="868680"/>
          </a:xfrm>
          <a:prstGeom prst="roundRect">
            <a:avLst>
              <a:gd name="adj" fmla="val 9474"/>
            </a:avLst>
          </a:prstGeom>
          <a:solidFill>
            <a:srgbClr val="F5F9FE"/>
          </a:solidFill>
          <a:ln w="12700">
            <a:solidFill>
              <a:srgbClr val="2E7B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51476" y="1362456"/>
            <a:ext cx="365760" cy="365760"/>
          </a:xfrm>
          <a:prstGeom prst="ellipse">
            <a:avLst/>
          </a:prstGeom>
          <a:solidFill>
            <a:srgbClr val="1B4F9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1476" y="1362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89220" y="150876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91172" y="1508760"/>
            <a:ext cx="201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92340" y="1508760"/>
            <a:ext cx="1993392" cy="868680"/>
          </a:xfrm>
          <a:prstGeom prst="roundRect">
            <a:avLst>
              <a:gd name="adj" fmla="val 9474"/>
            </a:avLst>
          </a:prstGeom>
          <a:solidFill>
            <a:srgbClr val="F5F9FE"/>
          </a:solidFill>
          <a:ln w="12700">
            <a:solidFill>
              <a:srgbClr val="2E7B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46036" y="1362456"/>
            <a:ext cx="365760" cy="365760"/>
          </a:xfrm>
          <a:prstGeom prst="ellipse">
            <a:avLst/>
          </a:prstGeom>
          <a:solidFill>
            <a:srgbClr val="1B4F9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46036" y="1362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83780" y="150876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Plate Number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285732" y="1508760"/>
            <a:ext cx="201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486900" y="1508760"/>
            <a:ext cx="1993392" cy="868680"/>
          </a:xfrm>
          <a:prstGeom prst="roundRect">
            <a:avLst>
              <a:gd name="adj" fmla="val 9474"/>
            </a:avLst>
          </a:prstGeom>
          <a:solidFill>
            <a:srgbClr val="F5F9FE"/>
          </a:solidFill>
          <a:ln w="12700">
            <a:solidFill>
              <a:srgbClr val="2E7B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40596" y="1362456"/>
            <a:ext cx="365760" cy="365760"/>
          </a:xfrm>
          <a:prstGeom prst="ellipse">
            <a:avLst/>
          </a:prstGeom>
          <a:solidFill>
            <a:srgbClr val="1B4F9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40596" y="1362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578340" y="150876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Verification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483596" y="2377440"/>
            <a:ext cx="0" cy="594360"/>
          </a:xfrm>
          <a:prstGeom prst="line">
            <a:avLst/>
          </a:prstGeom>
          <a:noFill/>
          <a:ln w="19050">
            <a:solidFill>
              <a:srgbClr val="2E7BD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08660" y="2971800"/>
            <a:ext cx="1993392" cy="868680"/>
          </a:xfrm>
          <a:prstGeom prst="roundRect">
            <a:avLst>
              <a:gd name="adj" fmla="val 9474"/>
            </a:avLst>
          </a:prstGeom>
          <a:solidFill>
            <a:srgbClr val="F5F9FE"/>
          </a:solidFill>
          <a:ln w="12700">
            <a:solidFill>
              <a:srgbClr val="2E7B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2356" y="2825496"/>
            <a:ext cx="365760" cy="365760"/>
          </a:xfrm>
          <a:prstGeom prst="ellipse">
            <a:avLst/>
          </a:prstGeom>
          <a:solidFill>
            <a:srgbClr val="1B4F9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" y="2825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0100" y="297180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Toll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702052" y="2971800"/>
            <a:ext cx="201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2903220" y="2971800"/>
            <a:ext cx="1993392" cy="868680"/>
          </a:xfrm>
          <a:prstGeom prst="roundRect">
            <a:avLst>
              <a:gd name="adj" fmla="val 9474"/>
            </a:avLst>
          </a:prstGeom>
          <a:solidFill>
            <a:srgbClr val="F5F9FE"/>
          </a:solidFill>
          <a:ln w="12700">
            <a:solidFill>
              <a:srgbClr val="2E7B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56916" y="2825496"/>
            <a:ext cx="365760" cy="365760"/>
          </a:xfrm>
          <a:prstGeom prst="ellipse">
            <a:avLst/>
          </a:prstGeom>
          <a:solidFill>
            <a:srgbClr val="1B4F9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56916" y="2825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994660" y="297180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96612" y="2971800"/>
            <a:ext cx="201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097780" y="2971800"/>
            <a:ext cx="1993392" cy="868680"/>
          </a:xfrm>
          <a:prstGeom prst="roundRect">
            <a:avLst>
              <a:gd name="adj" fmla="val 9474"/>
            </a:avLst>
          </a:prstGeom>
          <a:solidFill>
            <a:srgbClr val="F5F9FE"/>
          </a:solidFill>
          <a:ln w="12700">
            <a:solidFill>
              <a:srgbClr val="2E7BD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51476" y="2825496"/>
            <a:ext cx="365760" cy="365760"/>
          </a:xfrm>
          <a:prstGeom prst="ellipse">
            <a:avLst/>
          </a:prstGeom>
          <a:solidFill>
            <a:srgbClr val="1B4F9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1476" y="2825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189220" y="297180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Gate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091172" y="2971800"/>
            <a:ext cx="201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7292340" y="2971800"/>
            <a:ext cx="1993392" cy="868680"/>
          </a:xfrm>
          <a:prstGeom prst="roundRect">
            <a:avLst>
              <a:gd name="adj" fmla="val 9474"/>
            </a:avLst>
          </a:prstGeom>
          <a:solidFill>
            <a:srgbClr val="F5F9FE"/>
          </a:solidFill>
          <a:ln w="12700">
            <a:solidFill>
              <a:srgbClr val="2E7BD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46036" y="2825496"/>
            <a:ext cx="365760" cy="365760"/>
          </a:xfrm>
          <a:prstGeom prst="ellipse">
            <a:avLst/>
          </a:prstGeom>
          <a:solidFill>
            <a:srgbClr val="1B4F9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46036" y="2825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383780" y="297180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Transaction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9285732" y="2971800"/>
            <a:ext cx="201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9486900" y="2971800"/>
            <a:ext cx="1993392" cy="868680"/>
          </a:xfrm>
          <a:prstGeom prst="roundRect">
            <a:avLst>
              <a:gd name="adj" fmla="val 9474"/>
            </a:avLst>
          </a:prstGeom>
          <a:solidFill>
            <a:srgbClr val="F5F9FE"/>
          </a:solidFill>
          <a:ln w="12700">
            <a:solidFill>
              <a:srgbClr val="2E7BD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340596" y="2825496"/>
            <a:ext cx="365760" cy="365760"/>
          </a:xfrm>
          <a:prstGeom prst="ellipse">
            <a:avLst/>
          </a:prstGeom>
          <a:solidFill>
            <a:srgbClr val="1B4F9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340596" y="2825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578340" y="2971800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AI-Powered Automated Toll Collection and Gating System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84248" y="1618488"/>
            <a:ext cx="694944" cy="6949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BD6"/>
            </a:solidFill>
            <a:prstDash val="solid"/>
          </a:ln>
        </p:spPr>
      </p:sp>
      <p:pic>
        <p:nvPicPr>
          <p:cNvPr id="6" name="Image 0" descr="icons/mod_au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55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404872"/>
            <a:ext cx="3236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68096" y="2788920"/>
            <a:ext cx="3127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sign-up/login and role-based access.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4173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79008" y="1618488"/>
            <a:ext cx="694944" cy="6949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BD6"/>
            </a:solidFill>
            <a:prstDash val="solid"/>
          </a:ln>
        </p:spPr>
      </p:sp>
      <p:pic>
        <p:nvPicPr>
          <p:cNvPr id="11" name="Image 1" descr="icons/mod_vehi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07992" y="2404872"/>
            <a:ext cx="3236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Management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62856" y="2788920"/>
            <a:ext cx="3127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manage vehicle records.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4173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73768" y="1618488"/>
            <a:ext cx="694944" cy="6949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BD6"/>
            </a:solidFill>
            <a:prstDash val="solid"/>
          </a:ln>
        </p:spPr>
      </p:sp>
      <p:pic>
        <p:nvPicPr>
          <p:cNvPr id="16" name="Image 2" descr="icons/mod_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2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404872"/>
            <a:ext cx="3236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57616" y="2788920"/>
            <a:ext cx="3127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overview of traffic and revenue.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984248" y="3858768"/>
            <a:ext cx="694944" cy="6949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BD6"/>
            </a:solidFill>
            <a:prstDash val="solid"/>
          </a:ln>
        </p:spPr>
      </p:sp>
      <p:pic>
        <p:nvPicPr>
          <p:cNvPr id="21" name="Image 3" descr="icons/mod_pay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552" y="400507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" y="4645152"/>
            <a:ext cx="3236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68096" y="5029200"/>
            <a:ext cx="3127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cashless toll payment handling.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6576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779008" y="3858768"/>
            <a:ext cx="694944" cy="6949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BD6"/>
            </a:solidFill>
            <a:prstDash val="solid"/>
          </a:ln>
        </p:spPr>
      </p:sp>
      <p:pic>
        <p:nvPicPr>
          <p:cNvPr id="26" name="Image 4" descr="icons/mod_transactio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2" y="4005072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07992" y="4645152"/>
            <a:ext cx="3236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62856" y="5029200"/>
            <a:ext cx="3127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toll event end to end.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6576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9573768" y="3858768"/>
            <a:ext cx="694944" cy="6949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BD6"/>
            </a:solidFill>
            <a:prstDash val="solid"/>
          </a:ln>
        </p:spPr>
      </p:sp>
      <p:pic>
        <p:nvPicPr>
          <p:cNvPr id="31" name="Image 5" descr="icons/mod_repor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0072" y="4005072"/>
            <a:ext cx="402336" cy="40233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02752" y="4645152"/>
            <a:ext cx="3236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57616" y="5029200"/>
            <a:ext cx="3127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analytics and summary reports.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AI-Powered Automated Toll Collection and Gating System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— AI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3212" y="2148840"/>
            <a:ext cx="1481328" cy="2377440"/>
          </a:xfrm>
          <a:prstGeom prst="roundRect">
            <a:avLst>
              <a:gd name="adj" fmla="val 5556"/>
            </a:avLst>
          </a:prstGeom>
          <a:solidFill>
            <a:srgbClr val="1B4F9C"/>
          </a:solidFill>
          <a:ln/>
        </p:spPr>
      </p:sp>
      <p:pic>
        <p:nvPicPr>
          <p:cNvPr id="5" name="Image 0" descr="icons/ai_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441448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6364" y="3200400"/>
            <a:ext cx="13350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034540" y="3017520"/>
            <a:ext cx="118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153412" y="2148840"/>
            <a:ext cx="1481328" cy="2377440"/>
          </a:xfrm>
          <a:prstGeom prst="roundRect">
            <a:avLst>
              <a:gd name="adj" fmla="val 5556"/>
            </a:avLst>
          </a:prstGeom>
          <a:solidFill>
            <a:srgbClr val="2E7BD6"/>
          </a:solidFill>
          <a:ln/>
        </p:spPr>
      </p:sp>
      <p:pic>
        <p:nvPicPr>
          <p:cNvPr id="9" name="Image 1" descr="icons/ai_yo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468" y="2441448"/>
            <a:ext cx="585216" cy="5852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26564" y="3200400"/>
            <a:ext cx="13350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34740" y="3017520"/>
            <a:ext cx="118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3753612" y="2148840"/>
            <a:ext cx="1481328" cy="2377440"/>
          </a:xfrm>
          <a:prstGeom prst="roundRect">
            <a:avLst>
              <a:gd name="adj" fmla="val 5556"/>
            </a:avLst>
          </a:prstGeom>
          <a:solidFill>
            <a:srgbClr val="1B4F9C"/>
          </a:solidFill>
          <a:ln/>
        </p:spPr>
      </p:sp>
      <p:pic>
        <p:nvPicPr>
          <p:cNvPr id="13" name="Image 2" descr="icons/ai_oc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668" y="2441448"/>
            <a:ext cx="585216" cy="5852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26764" y="3200400"/>
            <a:ext cx="13350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234940" y="3017520"/>
            <a:ext cx="118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353812" y="2148840"/>
            <a:ext cx="1481328" cy="2377440"/>
          </a:xfrm>
          <a:prstGeom prst="roundRect">
            <a:avLst>
              <a:gd name="adj" fmla="val 5556"/>
            </a:avLst>
          </a:prstGeom>
          <a:solidFill>
            <a:srgbClr val="2E7BD6"/>
          </a:solidFill>
          <a:ln/>
        </p:spPr>
      </p:sp>
      <p:pic>
        <p:nvPicPr>
          <p:cNvPr id="17" name="Image 3" descr="icons/ai_detec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868" y="2441448"/>
            <a:ext cx="585216" cy="58521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26964" y="3200400"/>
            <a:ext cx="13350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Detection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835140" y="3017520"/>
            <a:ext cx="118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954012" y="2148840"/>
            <a:ext cx="1481328" cy="2377440"/>
          </a:xfrm>
          <a:prstGeom prst="roundRect">
            <a:avLst>
              <a:gd name="adj" fmla="val 5556"/>
            </a:avLst>
          </a:prstGeom>
          <a:solidFill>
            <a:srgbClr val="1B4F9C"/>
          </a:solidFill>
          <a:ln/>
        </p:spPr>
      </p:sp>
      <p:pic>
        <p:nvPicPr>
          <p:cNvPr id="21" name="Image 4" descr="icons/ai_blackl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2068" y="2441448"/>
            <a:ext cx="585216" cy="58521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27164" y="3200400"/>
            <a:ext cx="13350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 Check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8435340" y="3017520"/>
            <a:ext cx="118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8554212" y="2148840"/>
            <a:ext cx="1481328" cy="2377440"/>
          </a:xfrm>
          <a:prstGeom prst="roundRect">
            <a:avLst>
              <a:gd name="adj" fmla="val 5556"/>
            </a:avLst>
          </a:prstGeom>
          <a:solidFill>
            <a:srgbClr val="2E7BD6"/>
          </a:solidFill>
          <a:ln/>
        </p:spPr>
      </p:sp>
      <p:pic>
        <p:nvPicPr>
          <p:cNvPr id="25" name="Image 5" descr="icons/ai_confiden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2268" y="2441448"/>
            <a:ext cx="585216" cy="58521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627364" y="3200400"/>
            <a:ext cx="13350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10035540" y="3017520"/>
            <a:ext cx="118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10154412" y="2148840"/>
            <a:ext cx="1481328" cy="2377440"/>
          </a:xfrm>
          <a:prstGeom prst="roundRect">
            <a:avLst>
              <a:gd name="adj" fmla="val 5556"/>
            </a:avLst>
          </a:prstGeom>
          <a:solidFill>
            <a:srgbClr val="1B4F9C"/>
          </a:solidFill>
          <a:ln/>
        </p:spPr>
      </p:sp>
      <p:pic>
        <p:nvPicPr>
          <p:cNvPr id="29" name="Image 6" descr="icons/ai_ga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2468" y="2441448"/>
            <a:ext cx="585216" cy="58521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227564" y="3200400"/>
            <a:ext cx="13350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Gate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822960" y="4892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pipeline detects vehicles, reads number plates, checks against records, scores detection confidence, and triggers the virtual gate automatically.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AI-Powered Automated Toll Collection and Gating System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PREVIEWS (PLACEHOLDERS)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34340" y="1691640"/>
            <a:ext cx="2103120" cy="2743200"/>
          </a:xfrm>
          <a:prstGeom prst="roundRect">
            <a:avLst>
              <a:gd name="adj" fmla="val 3913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dash"/>
          </a:ln>
        </p:spPr>
      </p:sp>
      <p:pic>
        <p:nvPicPr>
          <p:cNvPr id="5" name="Image 0" descr="icons/ph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3774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34340" y="4434840"/>
            <a:ext cx="2103120" cy="438912"/>
          </a:xfrm>
          <a:prstGeom prst="rect">
            <a:avLst/>
          </a:prstGeom>
          <a:solidFill>
            <a:srgbClr val="1B4F9C"/>
          </a:solidFill>
          <a:ln/>
        </p:spPr>
      </p:sp>
      <p:sp>
        <p:nvSpPr>
          <p:cNvPr id="8" name="Text 5"/>
          <p:cNvSpPr/>
          <p:nvPr/>
        </p:nvSpPr>
        <p:spPr>
          <a:xfrm>
            <a:off x="434340" y="44348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38628" y="1691640"/>
            <a:ext cx="2103120" cy="2743200"/>
          </a:xfrm>
          <a:prstGeom prst="roundRect">
            <a:avLst>
              <a:gd name="adj" fmla="val 3913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dash"/>
          </a:ln>
        </p:spPr>
      </p:sp>
      <p:pic>
        <p:nvPicPr>
          <p:cNvPr id="10" name="Image 1" descr="icons/ph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428" y="2377440"/>
            <a:ext cx="731520" cy="731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75788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738628" y="4434840"/>
            <a:ext cx="2103120" cy="438912"/>
          </a:xfrm>
          <a:prstGeom prst="rect">
            <a:avLst/>
          </a:prstGeom>
          <a:solidFill>
            <a:srgbClr val="1B4F9C"/>
          </a:solidFill>
          <a:ln/>
        </p:spPr>
      </p:sp>
      <p:sp>
        <p:nvSpPr>
          <p:cNvPr id="13" name="Text 9"/>
          <p:cNvSpPr/>
          <p:nvPr/>
        </p:nvSpPr>
        <p:spPr>
          <a:xfrm>
            <a:off x="2738628" y="44348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Screen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42916" y="1691640"/>
            <a:ext cx="2103120" cy="2743200"/>
          </a:xfrm>
          <a:prstGeom prst="roundRect">
            <a:avLst>
              <a:gd name="adj" fmla="val 3913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dash"/>
          </a:ln>
        </p:spPr>
      </p:sp>
      <p:pic>
        <p:nvPicPr>
          <p:cNvPr id="15" name="Image 2" descr="icons/ph_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716" y="2377440"/>
            <a:ext cx="731520" cy="7315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80076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042916" y="4434840"/>
            <a:ext cx="2103120" cy="438912"/>
          </a:xfrm>
          <a:prstGeom prst="rect">
            <a:avLst/>
          </a:prstGeom>
          <a:solidFill>
            <a:srgbClr val="1B4F9C"/>
          </a:solidFill>
          <a:ln/>
        </p:spPr>
      </p:sp>
      <p:sp>
        <p:nvSpPr>
          <p:cNvPr id="18" name="Text 13"/>
          <p:cNvSpPr/>
          <p:nvPr/>
        </p:nvSpPr>
        <p:spPr>
          <a:xfrm>
            <a:off x="5042916" y="44348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47204" y="1691640"/>
            <a:ext cx="2103120" cy="2743200"/>
          </a:xfrm>
          <a:prstGeom prst="roundRect">
            <a:avLst>
              <a:gd name="adj" fmla="val 3913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dash"/>
          </a:ln>
        </p:spPr>
      </p:sp>
      <p:pic>
        <p:nvPicPr>
          <p:cNvPr id="20" name="Image 3" descr="icons/ph_im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3004" y="2377440"/>
            <a:ext cx="731520" cy="7315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84364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7347204" y="4434840"/>
            <a:ext cx="2103120" cy="438912"/>
          </a:xfrm>
          <a:prstGeom prst="rect">
            <a:avLst/>
          </a:prstGeom>
          <a:solidFill>
            <a:srgbClr val="1B4F9C"/>
          </a:solidFill>
          <a:ln/>
        </p:spPr>
      </p:sp>
      <p:sp>
        <p:nvSpPr>
          <p:cNvPr id="23" name="Text 17"/>
          <p:cNvSpPr/>
          <p:nvPr/>
        </p:nvSpPr>
        <p:spPr>
          <a:xfrm>
            <a:off x="7347204" y="44348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9651492" y="1691640"/>
            <a:ext cx="2103120" cy="2743200"/>
          </a:xfrm>
          <a:prstGeom prst="roundRect">
            <a:avLst>
              <a:gd name="adj" fmla="val 3913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dash"/>
          </a:ln>
        </p:spPr>
      </p:sp>
      <p:pic>
        <p:nvPicPr>
          <p:cNvPr id="25" name="Image 4" descr="icons/ph_im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7292" y="2377440"/>
            <a:ext cx="731520" cy="7315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788652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9651492" y="4434840"/>
            <a:ext cx="2103120" cy="438912"/>
          </a:xfrm>
          <a:prstGeom prst="rect">
            <a:avLst/>
          </a:prstGeom>
          <a:solidFill>
            <a:srgbClr val="1B4F9C"/>
          </a:solidFill>
          <a:ln/>
        </p:spPr>
      </p:sp>
      <p:sp>
        <p:nvSpPr>
          <p:cNvPr id="28" name="Text 21"/>
          <p:cNvSpPr/>
          <p:nvPr/>
        </p:nvSpPr>
        <p:spPr>
          <a:xfrm>
            <a:off x="9651492" y="44348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Animation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AI-Powered Automated Toll Collection and Gating System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4068" y="169164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0724" y="2011680"/>
            <a:ext cx="731520" cy="731520"/>
          </a:xfrm>
          <a:prstGeom prst="ellipse">
            <a:avLst/>
          </a:prstGeom>
          <a:solidFill>
            <a:srgbClr val="1B4F9C"/>
          </a:solidFill>
          <a:ln/>
        </p:spPr>
      </p:sp>
      <p:pic>
        <p:nvPicPr>
          <p:cNvPr id="5" name="Image 0" descr="icons/adv_softw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028" y="21579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1228" y="29260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Software-Based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26948" y="3474720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dependency on costly physical toll infrastructure.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98064" y="169164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2011680"/>
            <a:ext cx="731520" cy="731520"/>
          </a:xfrm>
          <a:prstGeom prst="ellipse">
            <a:avLst/>
          </a:prstGeom>
          <a:solidFill>
            <a:srgbClr val="1B4F9C"/>
          </a:solidFill>
          <a:ln/>
        </p:spPr>
      </p:sp>
      <p:pic>
        <p:nvPicPr>
          <p:cNvPr id="10" name="Image 1" descr="icons/adv_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215798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35224" y="29260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980944" y="3474720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vision AI for fast, accurate vehicle recognition.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052060" y="169164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28716" y="2011680"/>
            <a:ext cx="731520" cy="731520"/>
          </a:xfrm>
          <a:prstGeom prst="ellipse">
            <a:avLst/>
          </a:prstGeom>
          <a:solidFill>
            <a:srgbClr val="1B4F9C"/>
          </a:solidFill>
          <a:ln/>
        </p:spPr>
      </p:sp>
      <p:pic>
        <p:nvPicPr>
          <p:cNvPr id="15" name="Image 2" descr="icons/adv_scal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215798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89220" y="29260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234940" y="3474720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extends to new toll points and vehicle volumes.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306056" y="169164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982712" y="2011680"/>
            <a:ext cx="731520" cy="731520"/>
          </a:xfrm>
          <a:prstGeom prst="ellipse">
            <a:avLst/>
          </a:prstGeom>
          <a:solidFill>
            <a:srgbClr val="1B4F9C"/>
          </a:solidFill>
          <a:ln/>
        </p:spPr>
      </p:sp>
      <p:pic>
        <p:nvPicPr>
          <p:cNvPr id="20" name="Image 3" descr="icons/adv_co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157984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43216" y="29260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Cost-Effective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488936" y="3474720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setup and maintenance cost than hardware systems.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560052" y="169164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0236708" y="2011680"/>
            <a:ext cx="731520" cy="731520"/>
          </a:xfrm>
          <a:prstGeom prst="ellipse">
            <a:avLst/>
          </a:prstGeom>
          <a:solidFill>
            <a:srgbClr val="1B4F9C"/>
          </a:solidFill>
          <a:ln/>
        </p:spPr>
      </p:sp>
      <p:pic>
        <p:nvPicPr>
          <p:cNvPr id="25" name="Image 4" descr="icons/adv_friendl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157984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97212" y="29260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User-Friendly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742932" y="3474720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dashboard and seamless payment experience.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AI-Powered Automated Toll Collection and Gating System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4" name="Image 0" descr="icons/fut_cc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91056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17320"/>
            <a:ext cx="30175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F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CCTV Integration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572000" y="1417320"/>
            <a:ext cx="6858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live CCTV feeds for real-world vehicle capture.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340864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8" name="Image 1" descr="icons/fut_fast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5146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340864"/>
            <a:ext cx="30175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F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FASTag API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72000" y="2340864"/>
            <a:ext cx="6858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Interoperate with existing national FASTag infrastructure.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264408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12" name="Image 2" descr="icons/fut_pay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438144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264408"/>
            <a:ext cx="30175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F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Gateway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572000" y="3264408"/>
            <a:ext cx="6858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 payment gateways for live transactions.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4187952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16" name="Image 3" descr="icons/fut_mob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361688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187952"/>
            <a:ext cx="30175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F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572000" y="4187952"/>
            <a:ext cx="6858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app for users to track tolls and payments.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5111496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20" name="Image 4" descr="icons/fut_ga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285232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5111496"/>
            <a:ext cx="30175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F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Gate Integration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4572000" y="5111496"/>
            <a:ext cx="6858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virtual gate to control real boom barriers.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AI-Powered Automated Toll Collection and Gating System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5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937760"/>
            <a:ext cx="3657600" cy="3657600"/>
          </a:xfrm>
          <a:prstGeom prst="ellipse">
            <a:avLst/>
          </a:prstGeom>
          <a:solidFill>
            <a:srgbClr val="1B4F9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22960" cy="822960"/>
          </a:xfrm>
          <a:prstGeom prst="ellipse">
            <a:avLst/>
          </a:prstGeom>
          <a:solidFill>
            <a:srgbClr val="1B4F9C"/>
          </a:solidFill>
          <a:ln/>
        </p:spPr>
      </p:sp>
      <p:pic>
        <p:nvPicPr>
          <p:cNvPr id="5" name="Image 0" descr="icons/concl_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4447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18872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TollWise brings together Full Stack Development, Artificial Intelligence, and Computer Vision to deliver an intelligent, software-based toll management system.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10607040" cy="621792"/>
          </a:xfrm>
          <a:prstGeom prst="roundRect">
            <a:avLst>
              <a:gd name="adj" fmla="val 11765"/>
            </a:avLst>
          </a:prstGeom>
          <a:solidFill>
            <a:srgbClr val="15305F"/>
          </a:solidFill>
          <a:ln/>
        </p:spPr>
      </p:sp>
      <p:pic>
        <p:nvPicPr>
          <p:cNvPr id="8" name="Image 1" descr="icons/ok_gener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734056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606040"/>
            <a:ext cx="9692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dependency on manual booths and rigid RFID hardware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383280"/>
            <a:ext cx="10607040" cy="621792"/>
          </a:xfrm>
          <a:prstGeom prst="roundRect">
            <a:avLst>
              <a:gd name="adj" fmla="val 11765"/>
            </a:avLst>
          </a:prstGeom>
          <a:solidFill>
            <a:srgbClr val="15305F"/>
          </a:solidFill>
          <a:ln/>
        </p:spPr>
      </p:sp>
      <p:pic>
        <p:nvPicPr>
          <p:cNvPr id="11" name="Image 2" descr="icons/ok_gener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511296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383280"/>
            <a:ext cx="9692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detection, verification, toll calculation, and payment end to end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4160520"/>
            <a:ext cx="10607040" cy="621792"/>
          </a:xfrm>
          <a:prstGeom prst="roundRect">
            <a:avLst>
              <a:gd name="adj" fmla="val 11765"/>
            </a:avLst>
          </a:prstGeom>
          <a:solidFill>
            <a:srgbClr val="15305F"/>
          </a:solidFill>
          <a:ln/>
        </p:spPr>
      </p:sp>
      <p:pic>
        <p:nvPicPr>
          <p:cNvPr id="14" name="Image 3" descr="icons/ok_gener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288536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4160520"/>
            <a:ext cx="9692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real-time dashboards and reports for full operational visibility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4937760"/>
            <a:ext cx="10607040" cy="621792"/>
          </a:xfrm>
          <a:prstGeom prst="roundRect">
            <a:avLst>
              <a:gd name="adj" fmla="val 11765"/>
            </a:avLst>
          </a:prstGeom>
          <a:solidFill>
            <a:srgbClr val="15305F"/>
          </a:solidFill>
          <a:ln/>
        </p:spPr>
      </p:sp>
      <p:pic>
        <p:nvPicPr>
          <p:cNvPr id="17" name="Image 4" descr="icons/ok_generi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065776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4937760"/>
            <a:ext cx="9692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a scalable, cost-effective foundation for smart toll infrastructure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AI-Powered Automated Toll Collection and Gating System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AI-Powered Automated Toll Collection and Gating System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4" name="Image 0" descr="icons/ref_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73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55448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783080" y="155448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Documentation — https://react.dev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359152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8" name="Image 1" descr="icons/ref_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478024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35915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783080" y="2359152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Documentation — https://nodejs.org/docs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163824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12" name="Image 2" descr="icons/ref_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282696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16382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783080" y="3163824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Documentation — https://www.mongodb.com/docs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968496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16" name="Image 3" descr="icons/ref_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087368"/>
            <a:ext cx="420624" cy="4206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396849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783080" y="3968496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Documentation — https://docs.opencv.org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4773168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20" name="Image 4" descr="icons/ref_boo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892040"/>
            <a:ext cx="420624" cy="42062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25880" y="477316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783080" y="477316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Documentation (Ultralytics) — https://docs.ultralytics.com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548640" y="557784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5F9FE"/>
          </a:solidFill>
          <a:ln w="12700">
            <a:solidFill>
              <a:srgbClr val="D7E1EF"/>
            </a:solidFill>
            <a:prstDash val="solid"/>
          </a:ln>
        </p:spPr>
      </p:sp>
      <p:pic>
        <p:nvPicPr>
          <p:cNvPr id="24" name="Image 5" descr="icons/ref_boo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696712"/>
            <a:ext cx="420624" cy="42062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25880" y="557784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1783080" y="55778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Documentation — https://github.com/JaidedAI/EasyOCR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AI-Powered Automated Toll Collection and Gating System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2026-07-31T14:26:04Z</dcterms:created>
  <dcterms:modified xsi:type="dcterms:W3CDTF">2026-07-31T14:26:04Z</dcterms:modified>
</cp:coreProperties>
</file>